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56231cda-7231-f518-31d8-c685d82b9df0}">
          <p14:sldIdLst>
            <p14:sldId id="256"/>
            <p14:sldId id="257"/>
          </p14:sldIdLst>
        </p14:section>
        <p14:section name="Problem ve hedef" id="{c03de25b-cfcd-38f2-0c53-b64f66bf365d}">
          <p14:sldIdLst>
            <p14:sldId id="258"/>
            <p14:sldId id="259"/>
            <p14:sldId id="260"/>
          </p14:sldIdLst>
        </p14:section>
        <p14:section name="Fikir" id="{83c15840-82f3-4b53-447f-9a481d0c1d39}">
          <p14:sldIdLst>
            <p14:sldId id="261"/>
            <p14:sldId id="262"/>
            <p14:sldId id="263"/>
            <p14:sldId id="264"/>
          </p14:sldIdLst>
        </p14:section>
        <p14:section name="Ürün" id="{8334227a-54ca-c5a8-d049-e676d8d28a41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Kanıt" id="{21e09f84-91d6-d207-cf2d-4d302479897e}">
          <p14:sldIdLst>
            <p14:sldId id="272"/>
            <p14:sldId id="273"/>
            <p14:sldId id="274"/>
          </p14:sldIdLst>
        </p14:section>
        <p14:section name="Yol ve kararlar" id="{7ad41519-c223-111e-f1dd-aeb05d6bf1cf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Çalıştay panosundaki kök neden sayısı (eksen başına)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Kök neden sayısı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Yönetişim</c:v>
                  </c:pt>
                  <c:pt idx="1">
                    <c:v>Veri ve dijital altyapı</c:v>
                  </c:pt>
                  <c:pt idx="2">
                    <c:v>Tedarik zinciri</c:v>
                  </c:pt>
                  <c:pt idx="3">
                    <c:v>Sosyal</c:v>
                  </c:pt>
                  <c:pt idx="4">
                    <c:v>Dış ekosistem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b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Örnek koşu: 100 GJ doğal gaz — gaz başına katkı (kg CO₂e, kurgusal test faktörleri)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 CO₂e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CO₂</c:v>
                  </c:pt>
                  <c:pt idx="1">
                    <c:v>CH₄ (×28)</c:v>
                  </c:pt>
                  <c:pt idx="2">
                    <c:v>N₂O (×265)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</c:v>
                </c:pt>
                <c:pt idx="1">
                  <c:v>2.8</c:v>
                </c:pt>
                <c:pt idx="2">
                  <c:v>26.5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</c:scaling>
        <c:delete val="1"/>
        <c:axPos val="l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Kapsam 3 kategorileri — motorun yöntem matrisi (yöntem sayısı)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İzinli yöntem sayısı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1 Mal ve hizmet</c:v>
                  </c:pt>
                  <c:pt idx="1">
                    <c:v>2 Sermaye malı</c:v>
                  </c:pt>
                  <c:pt idx="2">
                    <c:v>3 Yakıt/enerji üst aşama</c:v>
                  </c:pt>
                  <c:pt idx="3">
                    <c:v>4 Yukarı taşıma</c:v>
                  </c:pt>
                  <c:pt idx="4">
                    <c:v>5 Atık</c:v>
                  </c:pt>
                  <c:pt idx="5">
                    <c:v>6 İş seyahati</c:v>
                  </c:pt>
                  <c:pt idx="6">
                    <c:v>7 İşe gidiş geliş</c:v>
                  </c:pt>
                  <c:pt idx="7">
                    <c:v>8 Kiralanan (kiracı)</c:v>
                  </c:pt>
                  <c:pt idx="8">
                    <c:v>9 Aşağı taşıma</c:v>
                  </c:pt>
                  <c:pt idx="9">
                    <c:v>10 Ürün işleme</c:v>
                  </c:pt>
                  <c:pt idx="10">
                    <c:v>11 Ürün kullanımı</c:v>
                  </c:pt>
                  <c:pt idx="11">
                    <c:v>12 Ömür sonu</c:v>
                  </c:pt>
                  <c:pt idx="12">
                    <c:v>13 Kiraya verilen</c:v>
                  </c:pt>
                  <c:pt idx="13">
                    <c:v>14 Franchise</c:v>
                  </c:pt>
                  <c:pt idx="14">
                    <c:v>15 Yatırım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İçerik envanteri (hepsi veri olarak, kod değil)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Adet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Ders (101)</c:v>
                  </c:pt>
                  <c:pt idx="1">
                    <c:v>Sözlük terimi</c:v>
                  </c:pt>
                  <c:pt idx="2">
                    <c:v>Kaynak kartı</c:v>
                  </c:pt>
                  <c:pt idx="3">
                    <c:v>Gündem maddesi</c:v>
                  </c:pt>
                  <c:pt idx="4">
                    <c:v>Sektör profili</c:v>
                  </c:pt>
                  <c:pt idx="5">
                    <c:v>Regülasyon paketi</c:v>
                  </c:pt>
                  <c:pt idx="6">
                    <c:v>Hata kodu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48</c:v>
                </c:pt>
                <c:pt idx="2">
                  <c:v>16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Otomatik testler (hepsi geçiyor)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sayısı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Hesap motoru</c:v>
                  </c:pt>
                  <c:pt idx="1">
                    <c:v>İş API'si + izolasyon</c:v>
                  </c:pt>
                  <c:pt idx="2">
                    <c:v>Arayüz modülleri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125</c:v>
                </c:pt>
                <c:pt idx="2">
                  <c:v>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</c:scaling>
        <c:delete val="1"/>
        <c:axPos val="l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39 gereklilik satırı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Gereklilik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bubble3D val="0"/>
            <c:spPr>
              <a:solidFill>
                <a:srgbClr val="9A5B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Uygulandı</c:v>
                </c:pt>
                <c:pt idx="1">
                  <c:v>Uygulandı · grup kararı bekliyor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</c:v>
                </c:pt>
                <c:pt idx="1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14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77 altın senaryo (77/77 geçti)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Altın senaryo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Kapsam 1 (T01–T04, T20)</c:v>
                  </c:pt>
                  <c:pt idx="1">
                    <c:v>Kapsam 2 (T05–T06)</c:v>
                  </c:pt>
                  <c:pt idx="2">
                    <c:v>Kapsam 3 (T08–T12)</c:v>
                  </c:pt>
                  <c:pt idx="3">
                    <c:v>Soğutucu (T11)</c:v>
                  </c:pt>
                  <c:pt idx="4">
                    <c:v>Ürün / toplama</c:v>
                  </c:pt>
                  <c:pt idx="5">
                    <c:v>Diğer engeller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7</c:v>
                </c:pt>
                <c:pt idx="2">
                  <c:v>18</c:v>
                </c:pt>
                <c:pt idx="3">
                  <c:v>7</c:v>
                </c:pt>
                <c:pt idx="4">
                  <c:v>7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1"/>
        <c:axPos val="b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j-lt"/>
              </a:rPr>
              <a:t>Karar kaydındaki 14 açık karar — kimin masasında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Açık karar</c:v>
                </c:pt>
              </c:strCache>
            </c:strRef>
          </c:tx>
          <c:spPr>
            <a:solidFill>
              <a:srgbClr val="0D5F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5B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F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651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5F5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Alan uzmanı</c:v>
                  </c:pt>
                  <c:pt idx="1">
                    <c:v>Raporlama uzmanı</c:v>
                  </c:pt>
                  <c:pt idx="2">
                    <c:v>Ürün sahibi</c:v>
                  </c:pt>
                  <c:pt idx="3">
                    <c:v>Hukuk / güvenlik</c:v>
                  </c:pt>
                  <c:pt idx="4">
                    <c:v>İK / yönetim / içerik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1"/>
        <c:axPos val="b"/>
        <c:majorGridlines>
          <c:spPr>
            <a:ln w="6350" cap="flat">
              <a:solidFill>
                <a:srgbClr val="C9D8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 (1 dk): Koza'yı tek cümleyle tanıtın: ürün bir hesap makinesi değil, yeni başlayan çalışanı ilk faturadan denetlenebilir rapora götüren rehberli bir çalışma zinciri. Forum grubunun çıktısından doğduğunu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Gündem (30 sn): altı başlık; toplam 20 dakika, sonda soru-cevap.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geçişi (20 sn).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(2 dk): sayılar grubun kendi çalıştay panosundan (çözüm önerileri belgesi). Beş eksen Koza'nın modül sınırlarını belirledi; her eksen üründe bir karşılık buldu.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 (1.5 dk): forumun iki hedefi ürünün başarı ölçütü oldu. Her modül en az birine ölçülebilir katkı sağlar.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Fikir (2 dk): zinciri soldan sağa anlatın; vurgu hesap adımında — bu yüzden ürün bir sohbet botu değil. Yapay zekâ sınırlarını net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Mimari (1.5 dk): grubun altı katmanlı önerisi (sistem mimarisi notu) Koza'nın iç yapısına doğrudan oturdu. Bakır katman yeni eklenen aksiyon motorudur.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İlkeler (1.5 dk): on iki kuralın altısı; geri kalanı (geçmiş sessizce değişmez, senaryo envanteri değiştirmez, ürün toplamı kurumsal toplama girmez, kişisel sıralama yok, test katsayıları kurgusal) belgede.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Yolculuk (2 dk): canlı demoda bu altı adımı gösterin. Grafikteki katsayılar kurgusal test değerleri; gerçek katalog uzman onayıyla yüklenir — bunu açıkça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Kapsam (1.5 dk): on beş kategori hiçbir zaman silinmez; veri yoksa “bilinmiyor” kalır, sıfır olmaz. Yöntem matrisi motorda; matris dışı yöntem reddedilir.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Sektör (1 dk): “sektör = veri, kod değil” kuralının somut hâli. Grup pilot profillerini seçecek.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Performans (1.5 dk): forumun 7 adımlı karar akışı ürünün aksiyon modülü oldu. Kaizen ile ikinci hedef doğrudan beslenir.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Uyum (1.5 dk): kural 6 — regülasyon koda gömülmez. Senaryo defterinin envanteri değiştirmediği testle kanıtlı.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Öğrenme (1 dk): asistan LLM değil, kural tabanlı kaynaklı yanıt motoru — bunu açıkça söyleyin; bu bir eksiklik değil, §24'ün gereği.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Kanıt (2 dk): sayılar depodaki CI'dan. Altın set uzman imzası bekliyor (§29): test katsayıları kurgusal; imza gelince gerçek katalogla aynı set koşar.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Teknoloji (1 dk): hızlı geçin; teknik soru gelirse sözleşme belgelerine yönlendirin.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 (1.5 dk): süreler pilot kapasitesine göre güncellenir, teslim taahhüdü değildir (§30). Kapılar geçilmeden sonraki faza geçilmez.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Kararlar (2 dk): toplantının karar maddesi bu slayt. Her karar için sahip ve tarih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(1 dk): dört somut istek; soru-cevaba geçin.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8D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UM">
    <p:bg>
      <p:bgPr>
        <a:solidFill>
          <a:srgbClr val="0D5F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0EFE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6201C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14C"/>
                </a:solidFill>
              </a:rPr>
              <a:t>KOZA · MEXT İş Dünyasında Sorumlu Üretim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NIS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10058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8D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image" Target="../media/image-18-1.png"/><Relationship Id="rId5" Type="http://schemas.openxmlformats.org/officeDocument/2006/relationships/image" Target="../media/image-18-2.png"/><Relationship Id="rId6" Type="http://schemas.openxmlformats.org/officeDocument/2006/relationships/image" Target="../media/image-18-3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1097280"/>
            <a:ext cx="822960" cy="82296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KOZA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4747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8D3"/>
                </a:solidFill>
              </a:rPr>
              <a:t>Sürdürülebilirlik görevine yeni başlayan çalışanı rehberle yönlendiren, veriyi kanıtıyla toplayan, hesabı denetlenebilir motorla yapan ve sonucu rapora bağlayan platform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AF9F"/>
                </a:solidFill>
              </a:rPr>
              <a:t>MEXT Teknoloji Merkezi · GreenSync Young Professionals Forum · İş Dünyasında Sorumlu Üretim grubu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8D3"/>
                </a:solidFill>
              </a:rPr>
              <a:t>Ekip: Muhammet Polat, Enes Koç, Çağla Kumru, Elif Sarıkaş, Havva Dönmez, Mısra Toprak, Okan Yılmaz, Zeynep Esmer  ·  Mentor: Onur Dedeoğlu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Bugün ne anlatacağız</a:t>
            </a:r>
            <a:endParaRPr lang="en-US" sz="3200" dirty="0"/>
          </a:p>
        </p:txBody>
      </p:sp>
      <p:sp>
        <p:nvSpPr>
          <p:cNvPr id="3" name="kart"/>
          <p:cNvSpPr/>
          <p:nvPr/>
        </p:nvSpPr>
        <p:spPr>
          <a:xfrm>
            <a:off x="548640" y="1554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4" name="simge-daire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imge-FiAlertCirc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9394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Forumda ortaya çıkan ana sorun ve kök nedenler</a:t>
            </a:r>
            <a:endParaRPr lang="en-US" sz="1400" dirty="0"/>
          </a:p>
        </p:txBody>
      </p:sp>
      <p:sp>
        <p:nvSpPr>
          <p:cNvPr id="8" name="kart"/>
          <p:cNvSpPr/>
          <p:nvPr/>
        </p:nvSpPr>
        <p:spPr>
          <a:xfrm>
            <a:off x="4297680" y="1554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9" name="simge-daire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imge-FiTarg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19394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İki hedef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Verimlilik ve çalışan memnuniyeti nasıl ölçülür</a:t>
            </a:r>
            <a:endParaRPr lang="en-US" sz="1400" dirty="0"/>
          </a:p>
        </p:txBody>
      </p:sp>
      <p:sp>
        <p:nvSpPr>
          <p:cNvPr id="13" name="kart"/>
          <p:cNvSpPr/>
          <p:nvPr/>
        </p:nvSpPr>
        <p:spPr>
          <a:xfrm>
            <a:off x="8046720" y="1554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4" name="simge-daire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imge-FiCompas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193944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Fikir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Koza'nın çalışma zinciri ve vazgeçilmez ilkeleri</a:t>
            </a:r>
            <a:endParaRPr lang="en-US" sz="1400" dirty="0"/>
          </a:p>
        </p:txBody>
      </p:sp>
      <p:sp>
        <p:nvSpPr>
          <p:cNvPr id="18" name="kart"/>
          <p:cNvSpPr/>
          <p:nvPr/>
        </p:nvSpPr>
        <p:spPr>
          <a:xfrm>
            <a:off x="54864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9" name="simge-daire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imge-FiLay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" y="422544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Ürün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Veri, hesap, kontrol, performans, uyum, öğrenme</a:t>
            </a:r>
            <a:endParaRPr lang="en-US" sz="1400" dirty="0"/>
          </a:p>
        </p:txBody>
      </p:sp>
      <p:sp>
        <p:nvSpPr>
          <p:cNvPr id="23" name="kart"/>
          <p:cNvSpPr/>
          <p:nvPr/>
        </p:nvSpPr>
        <p:spPr>
          <a:xfrm>
            <a:off x="429768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4" name="simge-daire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imge-FiCheckCirc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642" y="4225442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Kanıt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00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Neyin çalıştığı, nasıl doğrulandığı</a:t>
            </a:r>
            <a:endParaRPr lang="en-US" sz="1400" dirty="0"/>
          </a:p>
        </p:txBody>
      </p:sp>
      <p:sp>
        <p:nvSpPr>
          <p:cNvPr id="28" name="kart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9" name="simge-daire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simge-FiMa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682" y="4225442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Yol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00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Yol haritası, açık kararlar ve sizden istediklerimiz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Problem: işletmede sürdürülebilirlik odaklı bir sistem mimarisi yok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FEA"/>
                </a:solidFill>
              </a:rPr>
              <a:t>Forum çalıştayındaki ESG balık kılçığının tek bir kök noktaya çıkması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Kök nedenler beş eksende toplanıyor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949440" y="1417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Yönetişim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1417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Üst yönetim sahiplenmiyor; ekip, hedef ve sorumluluk belirsiz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3500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3500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Veri dağınık ve güvenilmez; yönetişim, raporlama ve analiz yok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328269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Tedarik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28269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Tedarikçiden veri gelmiyor; paylaşım endişesi, denetim mekanizması yok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21538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Sosyal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421538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Farkındalık düşük; operatöre fikri sorulmuyor; nitelikli personel az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51480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Dış ekosistem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1480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Regülasyon, finansman ve paydaş iş birliği boşlukları; artan maliyet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İki hedef, iki ölçüm ailesi</a:t>
            </a:r>
            <a:endParaRPr lang="en-US" sz="3200" dirty="0"/>
          </a:p>
        </p:txBody>
      </p:sp>
      <p:sp>
        <p:nvSpPr>
          <p:cNvPr id="3" name="kart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4" name="simge-daire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imge-FiTrending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Hedef 1 · Verimlilik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Kaynak tüketimi, hurda ve süreç kayıplarını azaltmak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6616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kWh / ton, m³ / ton gibi yoğunluklar (profil paydasıyla)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Atık ve fire oranı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 yoğunluğu</a:t>
            </a:r>
            <a:endParaRPr lang="en-US" sz="1400" dirty="0"/>
          </a:p>
        </p:txBody>
      </p:sp>
      <p:sp>
        <p:nvSpPr>
          <p:cNvPr id="9" name="kart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0" name="simge-daire"/>
          <p:cNvSpPr/>
          <p:nvPr/>
        </p:nvSpPr>
        <p:spPr>
          <a:xfrm>
            <a:off x="658368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imge-FiUs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196961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874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Hedef 2 · Çalışan memnuniyeti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Katılım, yetkinlik, güvenlik ve çalışma deneyimini iyileştirmek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56616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Öneri sayısı ve uygulanma oranı (birim düzeyinde)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Bağlılık skoru (anonim, çeyreklik)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Kişi başı eğitim saati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Kural: üretim düşerken mutlak emisyon da düşmüşse “verimlilik arttı” denmez; fark ayrıştırması gösterilir. Hedef değerler pilot başlangıcındaki ölçümle belirlenir, önceden vaat edilmez.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Fikir: hesabı motor yapar, yapay zekâ açıklar ve yönlendirir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FEA"/>
                </a:solidFill>
              </a:rPr>
              <a:t>Her modül tek bir zincire bağlanır: görev → veri → hesap → kontrol → rapor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Çalışma zinciri: beş adım, hepsi izlenebilir</a:t>
            </a:r>
            <a:endParaRPr lang="en-US" sz="3200" dirty="0"/>
          </a:p>
        </p:txBody>
      </p:sp>
      <p:sp>
        <p:nvSpPr>
          <p:cNvPr id="3" name="kart"/>
          <p:cNvSpPr/>
          <p:nvPr/>
        </p:nvSpPr>
        <p:spPr>
          <a:xfrm>
            <a:off x="548640" y="1554480"/>
            <a:ext cx="2066544" cy="329184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4" name="simge-daire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imge-FiCompas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Görev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“Ne yapmak istiyorsun?” Sistem sonraki adımı gösterir; teknik terim dayatılmaz.</a:t>
            </a:r>
            <a:endParaRPr lang="en-US" sz="1250" dirty="0"/>
          </a:p>
        </p:txBody>
      </p:sp>
      <p:sp>
        <p:nvSpPr>
          <p:cNvPr id="8" name="ok"/>
          <p:cNvSpPr/>
          <p:nvPr/>
        </p:nvSpPr>
        <p:spPr>
          <a:xfrm>
            <a:off x="2624328" y="297180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kart"/>
          <p:cNvSpPr/>
          <p:nvPr/>
        </p:nvSpPr>
        <p:spPr>
          <a:xfrm>
            <a:off x="2798064" y="1554480"/>
            <a:ext cx="2066544" cy="329184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0" name="simge-daire"/>
          <p:cNvSpPr/>
          <p:nvPr/>
        </p:nvSpPr>
        <p:spPr>
          <a:xfrm>
            <a:off x="3026664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imge-FiFileTex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365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26664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026664" y="29260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Fatura, miktar, birim, dönem, kanıt. Eksik bilgi sıfır sayılmaz; görev olur.</a:t>
            </a:r>
            <a:endParaRPr lang="en-US" sz="1250" dirty="0"/>
          </a:p>
        </p:txBody>
      </p:sp>
      <p:sp>
        <p:nvSpPr>
          <p:cNvPr id="14" name="ok"/>
          <p:cNvSpPr/>
          <p:nvPr/>
        </p:nvSpPr>
        <p:spPr>
          <a:xfrm>
            <a:off x="4873752" y="297180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kart"/>
          <p:cNvSpPr/>
          <p:nvPr/>
        </p:nvSpPr>
        <p:spPr>
          <a:xfrm>
            <a:off x="5047488" y="1554480"/>
            <a:ext cx="2066544" cy="3291840"/>
          </a:xfrm>
          <a:prstGeom prst="roundRect">
            <a:avLst>
              <a:gd name="adj" fmla="val 5310"/>
            </a:avLst>
          </a:prstGeom>
          <a:solidFill>
            <a:schemeClr val="accent6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6" name="simge-daire"/>
          <p:cNvSpPr/>
          <p:nvPr/>
        </p:nvSpPr>
        <p:spPr>
          <a:xfrm>
            <a:off x="5276088" y="1783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imge-FiCpu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789" y="19037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76088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Hesap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76088" y="29260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Aynı girdi + faktör + yöntem = aynı sonuç. İz kaydı kaynağa kadar gider.</a:t>
            </a:r>
            <a:endParaRPr lang="en-US" sz="1250" dirty="0"/>
          </a:p>
        </p:txBody>
      </p:sp>
      <p:sp>
        <p:nvSpPr>
          <p:cNvPr id="20" name="ok"/>
          <p:cNvSpPr/>
          <p:nvPr/>
        </p:nvSpPr>
        <p:spPr>
          <a:xfrm>
            <a:off x="7123176" y="297180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kart"/>
          <p:cNvSpPr/>
          <p:nvPr/>
        </p:nvSpPr>
        <p:spPr>
          <a:xfrm>
            <a:off x="7296912" y="1554480"/>
            <a:ext cx="2066544" cy="329184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2" name="simge-daire"/>
          <p:cNvSpPr/>
          <p:nvPr/>
        </p:nvSpPr>
        <p:spPr>
          <a:xfrm>
            <a:off x="7525512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imge-FiEy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213" y="190378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25512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Kontrol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25512" y="29260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Hesaplandı ≠ onaylandı. Veri giren ile onaylayan farklıdır.</a:t>
            </a:r>
            <a:endParaRPr lang="en-US" sz="1250" dirty="0"/>
          </a:p>
        </p:txBody>
      </p:sp>
      <p:sp>
        <p:nvSpPr>
          <p:cNvPr id="26" name="ok"/>
          <p:cNvSpPr/>
          <p:nvPr/>
        </p:nvSpPr>
        <p:spPr>
          <a:xfrm>
            <a:off x="9372600" y="2971800"/>
            <a:ext cx="18288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kart"/>
          <p:cNvSpPr/>
          <p:nvPr/>
        </p:nvSpPr>
        <p:spPr>
          <a:xfrm>
            <a:off x="9546336" y="1554480"/>
            <a:ext cx="2066544" cy="329184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8" name="simge-daire"/>
          <p:cNvSpPr/>
          <p:nvPr/>
        </p:nvSpPr>
        <p:spPr>
          <a:xfrm>
            <a:off x="9774936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simge-FiPack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5637" y="190378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74936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Rapor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774936" y="29260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Her rapor sürümü veri ve faktör kimliklerini ve karmasını taşır.</a:t>
            </a:r>
            <a:endParaRPr lang="en-US" sz="1250" dirty="0"/>
          </a:p>
        </p:txBody>
      </p:sp>
      <p:sp>
        <p:nvSpPr>
          <p:cNvPr id="32" name="kart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Yapay zekânın yeri: anlar, sorar, kaynak gösterir, görev önerir. Sayı üretmez, onaylamaz, yayımlamaz, dışarı mesaj göndermez. Yanıt biçimi her yerde aynı: kısa açıklama → kaynak ve sürüm → kurum için koşul → belirsizlik → önerilen eylem.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Grubun mimarisi ürünün omurgası oldu</a:t>
            </a:r>
            <a:endParaRPr lang="en-US" sz="3200" dirty="0"/>
          </a:p>
        </p:txBody>
      </p:sp>
      <p:sp>
        <p:nvSpPr>
          <p:cNvPr id="3" name="katman"/>
          <p:cNvSpPr/>
          <p:nvPr/>
        </p:nvSpPr>
        <p:spPr>
          <a:xfrm>
            <a:off x="548640" y="1417320"/>
            <a:ext cx="63093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Strateji ve sahiplik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Hedef kartı, RACI, karar kapısı</a:t>
            </a:r>
            <a:endParaRPr lang="en-US" sz="1200" dirty="0"/>
          </a:p>
        </p:txBody>
      </p:sp>
      <p:sp>
        <p:nvSpPr>
          <p:cNvPr id="7" name="katman"/>
          <p:cNvSpPr/>
          <p:nvPr/>
        </p:nvSpPr>
        <p:spPr>
          <a:xfrm>
            <a:off x="548640" y="2203704"/>
            <a:ext cx="63093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951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Süreç mimarisi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2951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Üretim, yatırım, satın alma, İK, bakım kapıları</a:t>
            </a:r>
            <a:endParaRPr lang="en-US" sz="1200" dirty="0"/>
          </a:p>
        </p:txBody>
      </p:sp>
      <p:sp>
        <p:nvSpPr>
          <p:cNvPr id="11" name="katman"/>
          <p:cNvSpPr/>
          <p:nvPr/>
        </p:nvSpPr>
        <p:spPr>
          <a:xfrm>
            <a:off x="548640" y="2990088"/>
            <a:ext cx="63093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Veri yönetişimi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Gösterge sözlüğü: tanım, sahip, birim, kalite</a:t>
            </a:r>
            <a:endParaRPr lang="en-US" sz="1200" dirty="0"/>
          </a:p>
        </p:txBody>
      </p:sp>
      <p:sp>
        <p:nvSpPr>
          <p:cNvPr id="15" name="katman"/>
          <p:cNvSpPr/>
          <p:nvPr/>
        </p:nvSpPr>
        <p:spPr>
          <a:xfrm>
            <a:off x="548640" y="3776472"/>
            <a:ext cx="63093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Entegrasyon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867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ERP, MES, sayaç, tedarikçi → kontrollü giriş</a:t>
            </a:r>
            <a:endParaRPr lang="en-US" sz="1200" dirty="0"/>
          </a:p>
        </p:txBody>
      </p:sp>
      <p:sp>
        <p:nvSpPr>
          <p:cNvPr id="19" name="katman"/>
          <p:cNvSpPr/>
          <p:nvPr/>
        </p:nvSpPr>
        <p:spPr>
          <a:xfrm>
            <a:off x="548640" y="4562856"/>
            <a:ext cx="6309360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654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Ortak ESG veri katmanı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46542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Enerji, su, emisyon, atık, İSG, çalışan, finans</a:t>
            </a:r>
            <a:endParaRPr lang="en-US" sz="1200" dirty="0"/>
          </a:p>
        </p:txBody>
      </p:sp>
      <p:sp>
        <p:nvSpPr>
          <p:cNvPr id="23" name="katman"/>
          <p:cNvSpPr/>
          <p:nvPr/>
        </p:nvSpPr>
        <p:spPr>
          <a:xfrm>
            <a:off x="548640" y="5349240"/>
            <a:ext cx="630936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440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Karar ve aksiyon motoru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5440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Sapma → görev → kök neden → düzeltme → etki</a:t>
            </a:r>
            <a:endParaRPr lang="en-US" sz="1200" dirty="0"/>
          </a:p>
        </p:txBody>
      </p:sp>
      <p:sp>
        <p:nvSpPr>
          <p:cNvPr id="27" name="kart"/>
          <p:cNvSpPr/>
          <p:nvPr/>
        </p:nvSpPr>
        <p:spPr>
          <a:xfrm>
            <a:off x="7315200" y="1417320"/>
            <a:ext cx="4297680" cy="46634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58952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Koza bu altı katmanın kullanıcı yüzüdür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2468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İlk beş katman şartname v1.0'da vardı; altıncı katman (karar ve aksiyon motoru) v1.1 ile eklendi.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Karar akışı yedi adım: başlat → ön değerlendir → veriyi doğrula → seçenek üret → pilot uygula → sonucu ölç → ölçekleme kapısı.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Her iki hedef eşiği karşılamadan hiçbir aksiyon “tamamlandı” olamaz.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Vazgeçilmez ilkeler</a:t>
            </a:r>
            <a:endParaRPr lang="en-US" sz="3200" dirty="0"/>
          </a:p>
        </p:txBody>
      </p:sp>
      <p:sp>
        <p:nvSpPr>
          <p:cNvPr id="3" name="kart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4" name="simge-daire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imge-FiCp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8480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Deterministik hesap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Sayısal sonucu yalnız hesap motoru üretir; yapay zekâ çıktısı sayı olarak kaydedilmez.</a:t>
            </a:r>
            <a:endParaRPr lang="en-US" sz="1300" dirty="0"/>
          </a:p>
        </p:txBody>
      </p:sp>
      <p:sp>
        <p:nvSpPr>
          <p:cNvPr id="8" name="kart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9" name="simge-daire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imge-FiHelpCirc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18480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Durumlar ayrıdır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77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Bilinmiyor, ölçülmüş sıfır, uygulanamaz ve tahmini birbirinden farklıdır; eksik veriye sıfır atanmaz.</a:t>
            </a:r>
            <a:endParaRPr lang="en-US" sz="1300" dirty="0"/>
          </a:p>
        </p:txBody>
      </p:sp>
      <p:sp>
        <p:nvSpPr>
          <p:cNvPr id="13" name="kart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4" name="simge-daire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imge-Fi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184800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112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Kurum izolasyonu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774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Veritabanı, dosya ve arama katmanında kurum ayrımı; istemciden gelen kimlik yetki kanıtı değildir.</a:t>
            </a:r>
            <a:endParaRPr lang="en-US" sz="1300" dirty="0"/>
          </a:p>
        </p:txBody>
      </p:sp>
      <p:sp>
        <p:nvSpPr>
          <p:cNvPr id="18" name="kart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9" name="simge-daire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imge-Fi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" y="422544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Yetki sunucuda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Arayüzde gizlemek yetkilendirme değildir; veri giren ile onaylayan farklıdır.</a:t>
            </a:r>
            <a:endParaRPr lang="en-US" sz="1300" dirty="0"/>
          </a:p>
        </p:txBody>
      </p:sp>
      <p:sp>
        <p:nvSpPr>
          <p:cNvPr id="23" name="kart"/>
          <p:cNvSpPr/>
          <p:nvPr/>
        </p:nvSpPr>
        <p:spPr>
          <a:xfrm>
            <a:off x="429768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4" name="simge-daire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imge-FiDataba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642" y="4225442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1208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Sektör = veri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Sektöre özgü gösterge, payda, soru ve öncelik sürümlü profil verisinden gelir; koda gömülmez.</a:t>
            </a:r>
            <a:endParaRPr lang="en-US" sz="1300" dirty="0"/>
          </a:p>
        </p:txBody>
      </p:sp>
      <p:sp>
        <p:nvSpPr>
          <p:cNvPr id="28" name="kart"/>
          <p:cNvSpPr/>
          <p:nvPr/>
        </p:nvSpPr>
        <p:spPr>
          <a:xfrm>
            <a:off x="804672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9" name="simge-daire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simge-FiXCirc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682" y="4225442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6112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Sahte tamamlama yok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Çalışmayan buton, uydurma grafik, kanıtsız tasarruf yüzdesi yok; sonuç eksiğiyle gösterilir.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Ürün: altı alan, tek zincir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FEA"/>
                </a:solidFill>
              </a:rPr>
              <a:t>Veri · Kontrol ve rapor · Performans · Uyum ve dış ilişkiler · Öğren · Sistem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Bir kaydın yolculuğu: faturadan rapora</a:t>
            </a:r>
            <a:endParaRPr lang="en-US" sz="3200" dirty="0"/>
          </a:p>
        </p:txBody>
      </p:sp>
      <p:sp>
        <p:nvSpPr>
          <p:cNvPr id="3" name="adim"/>
          <p:cNvSpPr/>
          <p:nvPr/>
        </p:nvSpPr>
        <p:spPr>
          <a:xfrm>
            <a:off x="105156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Kurulum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Kurum, NACE → profil önerisi, tesis, dönem, kaynaklar</a:t>
            </a:r>
            <a:endParaRPr lang="en-US" sz="1100" dirty="0"/>
          </a:p>
        </p:txBody>
      </p:sp>
      <p:sp>
        <p:nvSpPr>
          <p:cNvPr id="7" name="cizgi"/>
          <p:cNvSpPr/>
          <p:nvPr/>
        </p:nvSpPr>
        <p:spPr>
          <a:xfrm>
            <a:off x="1737360" y="1783080"/>
            <a:ext cx="640080" cy="0"/>
          </a:xfrm>
          <a:prstGeom prst="line">
            <a:avLst/>
          </a:prstGeom>
          <a:noFill/>
          <a:ln w="19050">
            <a:solidFill>
              <a:srgbClr val="C9D8D3"/>
            </a:solidFill>
            <a:prstDash val="solid"/>
          </a:ln>
        </p:spPr>
      </p:sp>
      <p:sp>
        <p:nvSpPr>
          <p:cNvPr id="8" name="adim"/>
          <p:cNvSpPr/>
          <p:nvPr/>
        </p:nvSpPr>
        <p:spPr>
          <a:xfrm>
            <a:off x="292608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Kayıt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100 GJ doğal gaz, alt ısıl değer, fatura kanıtı (karma)</a:t>
            </a:r>
            <a:endParaRPr lang="en-US" sz="1100" dirty="0"/>
          </a:p>
        </p:txBody>
      </p:sp>
      <p:sp>
        <p:nvSpPr>
          <p:cNvPr id="12" name="cizgi"/>
          <p:cNvSpPr/>
          <p:nvPr/>
        </p:nvSpPr>
        <p:spPr>
          <a:xfrm>
            <a:off x="3611880" y="1783080"/>
            <a:ext cx="640080" cy="0"/>
          </a:xfrm>
          <a:prstGeom prst="line">
            <a:avLst/>
          </a:prstGeom>
          <a:noFill/>
          <a:ln w="19050">
            <a:solidFill>
              <a:srgbClr val="C9D8D3"/>
            </a:solidFill>
            <a:prstDash val="solid"/>
          </a:ln>
        </p:spPr>
      </p:sp>
      <p:sp>
        <p:nvSpPr>
          <p:cNvPr id="13" name="adim"/>
          <p:cNvSpPr/>
          <p:nvPr/>
        </p:nvSpPr>
        <p:spPr>
          <a:xfrm>
            <a:off x="48006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Hesap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Motor: CO₂, CH₄, N₂O ayrı; iz kaydı faktöre kadar</a:t>
            </a:r>
            <a:endParaRPr lang="en-US" sz="1100" dirty="0"/>
          </a:p>
        </p:txBody>
      </p:sp>
      <p:sp>
        <p:nvSpPr>
          <p:cNvPr id="17" name="cizgi"/>
          <p:cNvSpPr/>
          <p:nvPr/>
        </p:nvSpPr>
        <p:spPr>
          <a:xfrm>
            <a:off x="5486400" y="1783080"/>
            <a:ext cx="640080" cy="0"/>
          </a:xfrm>
          <a:prstGeom prst="line">
            <a:avLst/>
          </a:prstGeom>
          <a:noFill/>
          <a:ln w="19050">
            <a:solidFill>
              <a:srgbClr val="C9D8D3"/>
            </a:solidFill>
            <a:prstDash val="solid"/>
          </a:ln>
        </p:spPr>
      </p:sp>
      <p:sp>
        <p:nvSpPr>
          <p:cNvPr id="18" name="adim"/>
          <p:cNvSpPr/>
          <p:nvPr/>
        </p:nvSpPr>
        <p:spPr>
          <a:xfrm>
            <a:off x="667512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İnceleme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Onaylayan ≠ veri giren; kanıtsız onay yok</a:t>
            </a:r>
            <a:endParaRPr lang="en-US" sz="1100" dirty="0"/>
          </a:p>
        </p:txBody>
      </p:sp>
      <p:sp>
        <p:nvSpPr>
          <p:cNvPr id="22" name="cizgi"/>
          <p:cNvSpPr/>
          <p:nvPr/>
        </p:nvSpPr>
        <p:spPr>
          <a:xfrm>
            <a:off x="7360920" y="1783080"/>
            <a:ext cx="640080" cy="0"/>
          </a:xfrm>
          <a:prstGeom prst="line">
            <a:avLst/>
          </a:prstGeom>
          <a:noFill/>
          <a:ln w="19050">
            <a:solidFill>
              <a:srgbClr val="C9D8D3"/>
            </a:solidFill>
            <a:prstDash val="solid"/>
          </a:ln>
        </p:spPr>
      </p:sp>
      <p:sp>
        <p:nvSpPr>
          <p:cNvPr id="23" name="adim"/>
          <p:cNvSpPr/>
          <p:nvPr/>
        </p:nvSpPr>
        <p:spPr>
          <a:xfrm>
            <a:off x="85496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9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Dönem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Uzlaştırma, kilit; yeniden açma gerekçe ister</a:t>
            </a:r>
            <a:endParaRPr lang="en-US" sz="1100" dirty="0"/>
          </a:p>
        </p:txBody>
      </p:sp>
      <p:sp>
        <p:nvSpPr>
          <p:cNvPr id="27" name="cizgi"/>
          <p:cNvSpPr/>
          <p:nvPr/>
        </p:nvSpPr>
        <p:spPr>
          <a:xfrm>
            <a:off x="9235440" y="1783080"/>
            <a:ext cx="640080" cy="0"/>
          </a:xfrm>
          <a:prstGeom prst="line">
            <a:avLst/>
          </a:prstGeom>
          <a:noFill/>
          <a:ln w="19050">
            <a:solidFill>
              <a:srgbClr val="C9D8D3"/>
            </a:solidFill>
            <a:prstDash val="solid"/>
          </a:ln>
        </p:spPr>
      </p:sp>
      <p:sp>
        <p:nvSpPr>
          <p:cNvPr id="28" name="adim"/>
          <p:cNvSpPr/>
          <p:nvPr/>
        </p:nvSpPr>
        <p:spPr>
          <a:xfrm>
            <a:off x="1042416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Rapor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Sabit manifest + SHA-256; aynı girdi aynı karma</a:t>
            </a:r>
            <a:endParaRPr lang="en-US" sz="11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48640" y="379476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kart"/>
          <p:cNvSpPr/>
          <p:nvPr/>
        </p:nvSpPr>
        <p:spPr>
          <a:xfrm>
            <a:off x="6583680" y="3794760"/>
            <a:ext cx="50292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8580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Ekranda ne görünür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434340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Sayıdan önce dönem, birim, durum ve eksikler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Toplam 5,005 t CO₂e; kapsama: tam sera gazı (3 gaz)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Engeller açıkça: m³ koşulu yok, esas uyumsuz, CO₂e faktöre ikinci GWP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Her engelin kaynağı, nedeni, sonucu ve yapılacak iş yazılı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Kapsam 1, 2 ve 3: her kategori için izinli yöntemler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"/>
          <p:cNvSpPr/>
          <p:nvPr/>
        </p:nvSpPr>
        <p:spPr>
          <a:xfrm>
            <a:off x="758952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5" name="simge-daire"/>
          <p:cNvSpPr/>
          <p:nvPr/>
        </p:nvSpPr>
        <p:spPr>
          <a:xfrm>
            <a:off x="781812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imge-FiZ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17007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124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Kapsam 1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Sabit ve mobil yakma, proses, soğutucu. Yeni ekipman dolumu kaçak sayılmaz; birim ve ısıl değer esası uyuşmadan hesap yok.</a:t>
            </a:r>
            <a:endParaRPr lang="en-US" sz="1150" dirty="0"/>
          </a:p>
        </p:txBody>
      </p:sp>
      <p:sp>
        <p:nvSpPr>
          <p:cNvPr id="9" name="kart"/>
          <p:cNvSpPr/>
          <p:nvPr/>
        </p:nvSpPr>
        <p:spPr>
          <a:xfrm>
            <a:off x="758952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0" name="simge-daire"/>
          <p:cNvSpPr/>
          <p:nvPr/>
        </p:nvSpPr>
        <p:spPr>
          <a:xfrm>
            <a:off x="7818120" y="3246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imge-FiBatteryCharg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334670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124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Kapsam 2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818120" y="3703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Konum ve piyasa bazlı iki sonuç ayrı; menşe garantisi tüketimi aşamaz; kalan tüketim hesap dışı bırakılamaz.</a:t>
            </a:r>
            <a:endParaRPr lang="en-US" sz="1150" dirty="0"/>
          </a:p>
        </p:txBody>
      </p:sp>
      <p:sp>
        <p:nvSpPr>
          <p:cNvPr id="14" name="kart"/>
          <p:cNvSpPr/>
          <p:nvPr/>
        </p:nvSpPr>
        <p:spPr>
          <a:xfrm>
            <a:off x="7589520" y="46634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5" name="simge-daire"/>
          <p:cNvSpPr/>
          <p:nvPr/>
        </p:nvSpPr>
        <p:spPr>
          <a:xfrm>
            <a:off x="7818120" y="4892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imge-FiBo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49926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Ürün çalışması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818120" y="5349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Dört sade sınır sorusu; sonuç “ürün karbon ayak izi” ya da “kısmi”; kurumsal toplama girmez.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Sektör = veri: profil değişir, çekirdek değişmez</a:t>
            </a:r>
            <a:endParaRPr lang="en-US" sz="3200" dirty="0"/>
          </a:p>
        </p:txBody>
      </p:sp>
      <p:graphicFrame>
        <p:nvGraphicFramePr>
          <p:cNvPr id="14" name="profil-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737360"/>
                <a:gridCol w="32004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Yoğunluk paydası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Öncelikli Kapsam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Sektöre özgü gösterge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F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 sanayi (metal, çimento, cam)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 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1, 3, 4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 emisyonu, hurda oranı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5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Taslak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Gıda ve içecek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 ürün, m³ su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1, 4, 5, 12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Soğutucu kaçağı, gıda kaybı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5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Taslak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profil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çalışan, 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1, 6, 7, 5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5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Taslak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imalat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adet / ton 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1, 4, 11, 12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oranı, makine başı enerji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Tekstil ve hazır giyim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kumaş, adet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1, 4, 5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ve kimyasal tüketimi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ve taşımacılık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ton-km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1, 3, 4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Filo yakıt verimi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Perakende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satış alanı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1, 4, 9, 12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Ambalaj, soğutma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Hizmet, ofis, yazılım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çalışan, 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1, 6, 7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merkezi / bulut tüketimi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Profil yalnız önerir ve önceliklendirir; kategori silmez. Kurum kurulumunda NACE kodu profil önerir, kullanıcı onaylar; uygun profil yoksa genel profil. Profil sürümü değişince geçmiş hesaplar değişmez. Üç profil taslaktır; alan uzmanı onayı (karar K-02) bekliyor.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Performans ve katılım</a:t>
            </a:r>
            <a:endParaRPr lang="en-US" sz="3200" dirty="0"/>
          </a:p>
        </p:txBody>
      </p:sp>
      <p:sp>
        <p:nvSpPr>
          <p:cNvPr id="3" name="akis"/>
          <p:cNvSpPr/>
          <p:nvPr/>
        </p:nvSpPr>
        <p:spPr>
          <a:xfrm>
            <a:off x="5486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Başlat</a:t>
            </a:r>
            <a:endParaRPr lang="en-US" sz="1200" dirty="0"/>
          </a:p>
        </p:txBody>
      </p:sp>
      <p:sp>
        <p:nvSpPr>
          <p:cNvPr id="5" name="akis"/>
          <p:cNvSpPr/>
          <p:nvPr/>
        </p:nvSpPr>
        <p:spPr>
          <a:xfrm>
            <a:off x="21488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Ön değerlendir</a:t>
            </a:r>
            <a:endParaRPr lang="en-US" sz="1200" dirty="0"/>
          </a:p>
        </p:txBody>
      </p:sp>
      <p:sp>
        <p:nvSpPr>
          <p:cNvPr id="7" name="akis"/>
          <p:cNvSpPr/>
          <p:nvPr/>
        </p:nvSpPr>
        <p:spPr>
          <a:xfrm>
            <a:off x="37490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Veriyi doğrula</a:t>
            </a:r>
            <a:endParaRPr lang="en-US" sz="1200" dirty="0"/>
          </a:p>
        </p:txBody>
      </p:sp>
      <p:sp>
        <p:nvSpPr>
          <p:cNvPr id="9" name="akis"/>
          <p:cNvSpPr/>
          <p:nvPr/>
        </p:nvSpPr>
        <p:spPr>
          <a:xfrm>
            <a:off x="53492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Seçenek üret</a:t>
            </a:r>
            <a:endParaRPr lang="en-US" sz="1200" dirty="0"/>
          </a:p>
        </p:txBody>
      </p:sp>
      <p:sp>
        <p:nvSpPr>
          <p:cNvPr id="11" name="akis"/>
          <p:cNvSpPr/>
          <p:nvPr/>
        </p:nvSpPr>
        <p:spPr>
          <a:xfrm>
            <a:off x="69494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Pilot uygula</a:t>
            </a:r>
            <a:endParaRPr lang="en-US" sz="1200" dirty="0"/>
          </a:p>
        </p:txBody>
      </p:sp>
      <p:sp>
        <p:nvSpPr>
          <p:cNvPr id="13" name="akis"/>
          <p:cNvSpPr/>
          <p:nvPr/>
        </p:nvSpPr>
        <p:spPr>
          <a:xfrm>
            <a:off x="85496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Sonucu ölç</a:t>
            </a:r>
            <a:endParaRPr lang="en-US" sz="1200" dirty="0"/>
          </a:p>
        </p:txBody>
      </p:sp>
      <p:sp>
        <p:nvSpPr>
          <p:cNvPr id="15" name="akis"/>
          <p:cNvSpPr/>
          <p:nvPr/>
        </p:nvSpPr>
        <p:spPr>
          <a:xfrm>
            <a:off x="10149840" y="1463040"/>
            <a:ext cx="14630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9556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7. Karar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286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Karar kapısı (AKS): tetikleyici (KPI sapması, yatırım, hat değişikliği, çalışan önerisi, mevzuat) → sekiz alanlı ön değerlendirme (bilinmeyen “bilinmiyor” kalır) → ekonomik, çevresel ve çalışan etkisi yan yana → pilot → baz dönemle ölçüm → iki hedef de eşiği karşılarsa standardize et, değilse kök neden ve yeniden tasarım.</a:t>
            </a:r>
            <a:endParaRPr lang="en-US" sz="1250" dirty="0"/>
          </a:p>
        </p:txBody>
      </p:sp>
      <p:sp>
        <p:nvSpPr>
          <p:cNvPr id="18" name="kart"/>
          <p:cNvSpPr/>
          <p:nvPr/>
        </p:nvSpPr>
        <p:spPr>
          <a:xfrm>
            <a:off x="548640" y="338328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9" name="simge-daire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imge-FiBarChart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3722522"/>
            <a:ext cx="281635" cy="28163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6304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Analiz ve hedefler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2519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Gösterge sözlüğü (tanım, birim, sahip, kalite kuralı); yoğunluk yalnız payda ve dönem varsa; hedef kartı ve RACI; iki hedefin durumu.</a:t>
            </a:r>
            <a:endParaRPr lang="en-US" sz="1250" dirty="0"/>
          </a:p>
        </p:txBody>
      </p:sp>
      <p:sp>
        <p:nvSpPr>
          <p:cNvPr id="23" name="kart"/>
          <p:cNvSpPr/>
          <p:nvPr/>
        </p:nvSpPr>
        <p:spPr>
          <a:xfrm>
            <a:off x="4297680" y="338328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4" name="simge-daire"/>
          <p:cNvSpPr/>
          <p:nvPr/>
        </p:nvSpPr>
        <p:spPr>
          <a:xfrm>
            <a:off x="457200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imge-FiMessageSqua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3722522"/>
            <a:ext cx="281635" cy="28163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21208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Green Kaizen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0" y="42519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Saha çalışanı üç alanla öneri verir: ne gördüm, ne öneriyorum, hangi hat. Elçi değerlendirir; uygulanan öneri ölçülen etkisiyle geri döner.</a:t>
            </a:r>
            <a:endParaRPr lang="en-US" sz="1250" dirty="0"/>
          </a:p>
        </p:txBody>
      </p:sp>
      <p:sp>
        <p:nvSpPr>
          <p:cNvPr id="28" name="kart"/>
          <p:cNvSpPr/>
          <p:nvPr/>
        </p:nvSpPr>
        <p:spPr>
          <a:xfrm>
            <a:off x="8046720" y="338328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9" name="simge-daire"/>
          <p:cNvSpPr/>
          <p:nvPr/>
        </p:nvSpPr>
        <p:spPr>
          <a:xfrm>
            <a:off x="832104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simge-Fi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3722522"/>
            <a:ext cx="281635" cy="28163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96112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Birim düzeyi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321040" y="425196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Öneriler ve katılım yalnız birim düzeyinde toplulaştırılır; kişi bazlı sıralama hiçbir ekranda yoktur (KVKK görüşü K-09).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Uyum ve dış ilişkiler: regülasyon, tedarikçi, senaryo</a:t>
            </a:r>
            <a:endParaRPr lang="en-US" sz="3200" dirty="0"/>
          </a:p>
        </p:txBody>
      </p:sp>
      <p:sp>
        <p:nvSpPr>
          <p:cNvPr id="3" name="kart"/>
          <p:cNvSpPr/>
          <p:nvPr/>
        </p:nvSpPr>
        <p:spPr>
          <a:xfrm>
            <a:off x="54864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4" name="simge-dair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imge-FiShiel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Regülasyon paketleri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CBAM, ulusal ETS/MRV, TSRS, AB müşteri talepleri ayrı ve sürümlü paketler. Eşik, tarih ve benchmark koda yazılmaz; doğrulanmamış kural “inceleme gerekli” kalır. Resmî metin → değişiklik kartı → uzman onayı.</a:t>
            </a:r>
            <a:endParaRPr lang="en-US" sz="1250" dirty="0"/>
          </a:p>
        </p:txBody>
      </p:sp>
      <p:sp>
        <p:nvSpPr>
          <p:cNvPr id="8" name="kart"/>
          <p:cNvSpPr/>
          <p:nvPr/>
        </p:nvSpPr>
        <p:spPr>
          <a:xfrm>
            <a:off x="429768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9" name="simge-daire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imge-FiTru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Tedarikçi programı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260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Harcama × yoğunlukla sıralama; ilk dalga kritik %20. Talebin ilk ekranında gizlilik ve “yalnız toplulaştırılmış kullanım” taahhüdü. Öz değerlendirme; yüksek riskte saha ziyareti; ceza yerine düzeltici plan. Dış gönderim yetkili onayı ister.</a:t>
            </a:r>
            <a:endParaRPr lang="en-US" sz="1250" dirty="0"/>
          </a:p>
        </p:txBody>
      </p:sp>
      <p:sp>
        <p:nvSpPr>
          <p:cNvPr id="13" name="kart"/>
          <p:cNvSpPr/>
          <p:nvPr/>
        </p:nvSpPr>
        <p:spPr>
          <a:xfrm>
            <a:off x="804672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4" name="simge-daire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simge-FiDollar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8580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Senaryo defteri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260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Gölge karbon fiyatı, ücretsiz tahsis, açık/fazla ve alım-satım senaryoları ayrı defterde. Envanteri değiştiremez: rapor karması senaryo girilince aynı kalır. TR ETS eki (Enes Koç) burada karşılık buldu.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Açık kararlar: ulusal ETS ikincil mevzuatı (K-06), CBAM kanıt formatı (K-07), TSRS uygulanabilirliği (K-08), gölge karbon fiyatının sahibi (K-11) — resmî metin doğrulanana kadar paketler açılmaz.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Öğrenme ve asistan: iş başında rehber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"/>
          <p:cNvSpPr/>
          <p:nvPr/>
        </p:nvSpPr>
        <p:spPr>
          <a:xfrm>
            <a:off x="6492240" y="1371600"/>
            <a:ext cx="51206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5" name="simge-daire"/>
          <p:cNvSpPr/>
          <p:nvPr/>
        </p:nvSpPr>
        <p:spPr>
          <a:xfrm>
            <a:off x="67208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imge-FiBookOpe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65506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 bazlı dersler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720840" y="1965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Yönetici, uzman ve saha için ayrı yollar; saha dersleri 3 dakika; her ders gerçek bir göreve bağlı; rozet veya sertifika yok.</a:t>
            </a:r>
            <a:endParaRPr lang="en-US" sz="1150" dirty="0"/>
          </a:p>
        </p:txBody>
      </p:sp>
      <p:sp>
        <p:nvSpPr>
          <p:cNvPr id="9" name="kart"/>
          <p:cNvSpPr/>
          <p:nvPr/>
        </p:nvSpPr>
        <p:spPr>
          <a:xfrm>
            <a:off x="6492240" y="2880360"/>
            <a:ext cx="51206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0" name="simge-daire"/>
          <p:cNvSpPr/>
          <p:nvPr/>
        </p:nvSpPr>
        <p:spPr>
          <a:xfrm>
            <a:off x="672084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imge-FiMessage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Kaynaklı asistan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720840" y="34747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Şartname, sözlük, kaynak kartları ve kurumun kendi verisinden yanıt kurar; sayı yalnız kayıtlı hesaptan. Kaynak yoksa “doğrulanmış kaynak bulamadım”.</a:t>
            </a:r>
            <a:endParaRPr lang="en-US" sz="1150" dirty="0"/>
          </a:p>
        </p:txBody>
      </p:sp>
      <p:sp>
        <p:nvSpPr>
          <p:cNvPr id="14" name="kart"/>
          <p:cNvSpPr/>
          <p:nvPr/>
        </p:nvSpPr>
        <p:spPr>
          <a:xfrm>
            <a:off x="6492240" y="4389120"/>
            <a:ext cx="51206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5" name="simge-daire"/>
          <p:cNvSpPr/>
          <p:nvPr/>
        </p:nvSpPr>
        <p:spPr>
          <a:xfrm>
            <a:off x="6720840" y="4572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imge-FiFileTex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46725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Belge güvenliği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720840" y="4983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Yapıştırılan fatura metni veridir, komut değildir; içindeki talimat benzeri ifadeler görünür uyarıyla yok sayılır. On iki senaryoluk değerlendirme seti her sürümde koşar.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Tüm tanımlar özgün kısa açıklamalardır; standart metinleri kopyalanmaz (K-12). İçerik editör onayı bekliyor etiketiyle gösterilir.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Kanıt: neyin çalıştığını nasıl biliyoruz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FEA"/>
                </a:solidFill>
              </a:rPr>
              <a:t>Testler, altın senaryolar, gereklilik izleme ve canlı önizleme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Her katman test edildi, her gereklilik izlendi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486400" y="137160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8778240" y="1371600"/>
          <a:ext cx="2880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kart"/>
          <p:cNvSpPr/>
          <p:nvPr/>
        </p:nvSpPr>
        <p:spPr>
          <a:xfrm>
            <a:off x="54864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7" name="simge-daire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simge-FiGlob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718304"/>
            <a:ext cx="256032" cy="25603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41732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Aynı motor tarayıcıda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822960" y="5074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Python hesap motoru tarayıcıda da aynı kodla çalışır; 77 senaryo canlı sitede 38 saniyede koşuldu.</a:t>
            </a:r>
            <a:endParaRPr lang="en-US" sz="1150" dirty="0"/>
          </a:p>
        </p:txBody>
      </p:sp>
      <p:sp>
        <p:nvSpPr>
          <p:cNvPr id="11" name="kart"/>
          <p:cNvSpPr/>
          <p:nvPr/>
        </p:nvSpPr>
        <p:spPr>
          <a:xfrm>
            <a:off x="429768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2" name="simge-daire"/>
          <p:cNvSpPr/>
          <p:nvPr/>
        </p:nvSpPr>
        <p:spPr>
          <a:xfrm>
            <a:off x="457200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imge-FiDataba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71830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16636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Gerçek veritabanı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4572000" y="5074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API testleri bellek içi depoda ve PostgreSQL'de (satır düzeyi güvenlik) ayrı ayrı koşar; başka kurumun kaydı 13 işlemde görünmez.</a:t>
            </a:r>
            <a:endParaRPr lang="en-US" sz="1150" dirty="0"/>
          </a:p>
        </p:txBody>
      </p:sp>
      <p:sp>
        <p:nvSpPr>
          <p:cNvPr id="16" name="kart"/>
          <p:cNvSpPr/>
          <p:nvPr/>
        </p:nvSpPr>
        <p:spPr>
          <a:xfrm>
            <a:off x="804672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7" name="simge-daire"/>
          <p:cNvSpPr/>
          <p:nvPr/>
        </p:nvSpPr>
        <p:spPr>
          <a:xfrm>
            <a:off x="832104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simge-FiMonito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718304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91540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Gerçek arayüz akışı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8321040" y="5074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Kurulum → kayıt → hesap → inceleme → rapor zinciri headless tarayıcıda tıklanarak doğrulandı; 35 sayfa hatasız.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Teknoloji: modüler monolit, deterministik çekirdek</a:t>
            </a:r>
            <a:endParaRPr lang="en-US" sz="3200" dirty="0"/>
          </a:p>
        </p:txBody>
      </p:sp>
      <p:sp>
        <p:nvSpPr>
          <p:cNvPr id="3" name="kart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4" name="nokta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618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Arayüz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57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Next.js (TypeScript), statik dışa aktarma; sade ve ayrıntılı görünüm; erişilebilir formlar</a:t>
            </a:r>
            <a:endParaRPr lang="en-US" sz="1250" dirty="0"/>
          </a:p>
        </p:txBody>
      </p:sp>
      <p:sp>
        <p:nvSpPr>
          <p:cNvPr id="7" name="kart"/>
          <p:cNvSpPr/>
          <p:nvPr/>
        </p:nvSpPr>
        <p:spPr>
          <a:xfrm>
            <a:off x="6172200" y="14173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8" name="nokta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1618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İş API'si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057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FastAPI; kurum bağlamı oturumdan; idempotency, sürüm/ETag, hız sınırı, denetim izi</a:t>
            </a:r>
            <a:endParaRPr lang="en-US" sz="1250" dirty="0"/>
          </a:p>
        </p:txBody>
      </p:sp>
      <p:sp>
        <p:nvSpPr>
          <p:cNvPr id="11" name="kart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2" name="nokta"/>
          <p:cNvSpPr/>
          <p:nvPr/>
        </p:nvSpPr>
        <p:spPr>
          <a:xfrm>
            <a:off x="822960" y="33832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1729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Hesap motoru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11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Saf Python, Decimal, I/O yok; aynı kod tarayıcıda (Pyodide) ve sunucuda</a:t>
            </a:r>
            <a:endParaRPr lang="en-US" sz="1250" dirty="0"/>
          </a:p>
        </p:txBody>
      </p:sp>
      <p:sp>
        <p:nvSpPr>
          <p:cNvPr id="15" name="kart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6" name="nokta"/>
          <p:cNvSpPr/>
          <p:nvPr/>
        </p:nvSpPr>
        <p:spPr>
          <a:xfrm>
            <a:off x="6446520" y="3383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31729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611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PostgreSQL; satır düzeyi güvenlik; append-only sürüm tabloları; değer durumu kısıtı</a:t>
            </a:r>
            <a:endParaRPr lang="en-US" sz="1250" dirty="0"/>
          </a:p>
        </p:txBody>
      </p:sp>
      <p:sp>
        <p:nvSpPr>
          <p:cNvPr id="19" name="kart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0" name="nokta"/>
          <p:cNvSpPr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4727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Dosya ve kuyruk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Nesne deposu, imzalı kısa ömürlü bağlantı, tarama kancası; uzun işler job_id döner</a:t>
            </a:r>
            <a:endParaRPr lang="en-US" sz="1250" dirty="0"/>
          </a:p>
        </p:txBody>
      </p:sp>
      <p:sp>
        <p:nvSpPr>
          <p:cNvPr id="23" name="kart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4" name="nokta"/>
          <p:cNvSpPr/>
          <p:nvPr/>
        </p:nvSpPr>
        <p:spPr>
          <a:xfrm>
            <a:off x="6446520" y="4937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4727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İçerik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Profiller, dersler, terimler, kaynaklar, paketler YAML olarak sürümlü; kod dağıtımından ayrı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Önizleme (GitHub Pages) statiktir: kayıtlar tarayıcıda, motor tarayıcıda. Üretimde aynı kurallar API ve PostgreSQL üzerinde çalışır; adımlar “Üretime geçiş” belgesinde.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Yol haritası: forum takvimi ile ürün kapıları birleşti</a:t>
            </a:r>
            <a:endParaRPr lang="en-US" sz="3200" dirty="0"/>
          </a:p>
        </p:txBody>
      </p:sp>
      <p:sp>
        <p:nvSpPr>
          <p:cNvPr id="3" name="faz"/>
          <p:cNvSpPr/>
          <p:nvPr/>
        </p:nvSpPr>
        <p:spPr>
          <a:xfrm>
            <a:off x="548640" y="1417320"/>
            <a:ext cx="34747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0–6 ay  ·  Doğru zincir</a:t>
            </a:r>
            <a:endParaRPr lang="en-US" sz="1500" dirty="0"/>
          </a:p>
        </p:txBody>
      </p:sp>
      <p:sp>
        <p:nvSpPr>
          <p:cNvPr id="5" name="kart"/>
          <p:cNvSpPr/>
          <p:nvPr/>
        </p:nvSpPr>
        <p:spPr>
          <a:xfrm>
            <a:off x="548640" y="219456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Sponsor ve ekip, önemlilik analizi, gösterge sözlüğü, kritik tedarikçi listesi, farkındalık eğitimi, hızlı kazanım projeleri. Ürün: kurulum → doğal gaz → hesap → rapor, elektrik, profiller.</a:t>
            </a:r>
            <a:endParaRPr lang="en-US" sz="1350" dirty="0"/>
          </a:p>
        </p:txBody>
      </p:sp>
      <p:sp>
        <p:nvSpPr>
          <p:cNvPr id="7" name="kart"/>
          <p:cNvSpPr/>
          <p:nvPr/>
        </p:nvSpPr>
        <p:spPr>
          <a:xfrm>
            <a:off x="548640" y="516636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5257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Pilot kapısı: kurumlar arası erişim testi + yeni kullanıcının yardımsız ilk taslağı</a:t>
            </a:r>
            <a:endParaRPr lang="en-US" sz="1150" dirty="0"/>
          </a:p>
        </p:txBody>
      </p:sp>
      <p:sp>
        <p:nvSpPr>
          <p:cNvPr id="9" name="faz"/>
          <p:cNvSpPr/>
          <p:nvPr/>
        </p:nvSpPr>
        <p:spPr>
          <a:xfrm>
            <a:off x="4297680" y="1417320"/>
            <a:ext cx="34747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417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6–18 ay  ·  İki hedefi besleyen döngü</a:t>
            </a:r>
            <a:endParaRPr lang="en-US" sz="1500" dirty="0"/>
          </a:p>
        </p:txBody>
      </p:sp>
      <p:sp>
        <p:nvSpPr>
          <p:cNvPr id="11" name="kart"/>
          <p:cNvSpPr/>
          <p:nvPr/>
        </p:nvSpPr>
        <p:spPr>
          <a:xfrm>
            <a:off x="4297680" y="219456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26280" y="23774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Ölçüm altyapısı ve ESG veri tabanı, pano, tedarikçi portalı ve sözleşme maddeleri, operatör öneri sistemi, fon başvuruları. Ürün: Kaizen, öğrenme yolları, aksiyon motoru.</a:t>
            </a:r>
            <a:endParaRPr lang="en-US" sz="1350" dirty="0"/>
          </a:p>
        </p:txBody>
      </p:sp>
      <p:sp>
        <p:nvSpPr>
          <p:cNvPr id="13" name="kart"/>
          <p:cNvSpPr/>
          <p:nvPr/>
        </p:nvSpPr>
        <p:spPr>
          <a:xfrm>
            <a:off x="4297680" y="516636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26280" y="5257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Ara kontrol: pilot kapısından geçen kurumda iki hedefin ilk ölçümü</a:t>
            </a:r>
            <a:endParaRPr lang="en-US" sz="1150" dirty="0"/>
          </a:p>
        </p:txBody>
      </p:sp>
      <p:sp>
        <p:nvSpPr>
          <p:cNvPr id="15" name="faz"/>
          <p:cNvSpPr/>
          <p:nvPr/>
        </p:nvSpPr>
        <p:spPr>
          <a:xfrm>
            <a:off x="8046720" y="1417320"/>
            <a:ext cx="34747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417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18–36 ay  ·  Entegrasyon ve dış uyum</a:t>
            </a:r>
            <a:endParaRPr lang="en-US" sz="1500" dirty="0"/>
          </a:p>
        </p:txBody>
      </p:sp>
      <p:sp>
        <p:nvSpPr>
          <p:cNvPr id="17" name="kart"/>
          <p:cNvSpPr/>
          <p:nvPr/>
        </p:nvSpPr>
        <p:spPr>
          <a:xfrm>
            <a:off x="8046720" y="219456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75320" y="23774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Otomatik MES/ERP veri akışı, dış güvence, öngörü analizi, tedarikçi programının yaygınlaşması. Ürün: Kapsam 3 derinleşmesi, regülasyon paketleri, senaryo defteri.</a:t>
            </a:r>
            <a:endParaRPr lang="en-US" sz="1350" dirty="0"/>
          </a:p>
        </p:txBody>
      </p:sp>
      <p:sp>
        <p:nvSpPr>
          <p:cNvPr id="19" name="kart"/>
          <p:cNvSpPr/>
          <p:nvPr/>
        </p:nvSpPr>
        <p:spPr>
          <a:xfrm>
            <a:off x="8046720" y="5166360"/>
            <a:ext cx="347472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5257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Ölçekleme kapısı: iki hedefin eşikleri + uzman onaylı altın set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Grubun kesinleştireceği kararlar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"/>
          <p:cNvSpPr/>
          <p:nvPr/>
        </p:nvSpPr>
        <p:spPr>
          <a:xfrm>
            <a:off x="5394960" y="1371600"/>
            <a:ext cx="6217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57784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K-02 / K-03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4447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Pilot sektör profilleri ve NACE düzeyi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921240" y="14447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Alan uzmanı</a:t>
            </a:r>
            <a:endParaRPr lang="en-US" sz="1000" dirty="0"/>
          </a:p>
        </p:txBody>
      </p:sp>
      <p:sp>
        <p:nvSpPr>
          <p:cNvPr id="8" name="kart"/>
          <p:cNvSpPr/>
          <p:nvPr/>
        </p:nvSpPr>
        <p:spPr>
          <a:xfrm>
            <a:off x="5394960" y="2103120"/>
            <a:ext cx="6217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77840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K-04 / K-05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1762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Hesap otoritesi ve gerçek faktör kataloğu (bugünkü katalog kurgusal)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921240" y="217627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Alan uzmanı, lisans</a:t>
            </a:r>
            <a:endParaRPr lang="en-US" sz="1000" dirty="0"/>
          </a:p>
        </p:txBody>
      </p:sp>
      <p:sp>
        <p:nvSpPr>
          <p:cNvPr id="12" name="kart"/>
          <p:cNvSpPr/>
          <p:nvPr/>
        </p:nvSpPr>
        <p:spPr>
          <a:xfrm>
            <a:off x="5394960" y="2834640"/>
            <a:ext cx="6217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577840" y="2944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K-06 / K-07 / K-08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9077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Ulusal ETS/MRV, CBAM kanıt formatı, TSRS uygulanabilirliği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921240" y="29077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Raporlama uzmanı</a:t>
            </a:r>
            <a:endParaRPr lang="en-US" sz="1000" dirty="0"/>
          </a:p>
        </p:txBody>
      </p:sp>
      <p:sp>
        <p:nvSpPr>
          <p:cNvPr id="16" name="kart"/>
          <p:cNvSpPr/>
          <p:nvPr/>
        </p:nvSpPr>
        <p:spPr>
          <a:xfrm>
            <a:off x="5394960" y="3566160"/>
            <a:ext cx="6217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77840" y="3675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K-09 / K-10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36393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Green Kaizen için KVKK görüşü; memnuniyet ölçüm yöntemi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921240" y="36393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Hukuk, çalışan temsilcisi, İK</a:t>
            </a:r>
            <a:endParaRPr lang="en-US" sz="1000" dirty="0"/>
          </a:p>
        </p:txBody>
      </p:sp>
      <p:sp>
        <p:nvSpPr>
          <p:cNvPr id="20" name="kart"/>
          <p:cNvSpPr/>
          <p:nvPr/>
        </p:nvSpPr>
        <p:spPr>
          <a:xfrm>
            <a:off x="5394960" y="4297680"/>
            <a:ext cx="6217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577840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K-11 / K-12 / K-13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43708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Gölge karbon fiyatının sahibi; içerik kullanım hakları; veri saklama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921240" y="4370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Yönetim, hukuk, güvenlik</a:t>
            </a:r>
            <a:endParaRPr lang="en-US" sz="1000" dirty="0"/>
          </a:p>
        </p:txBody>
      </p:sp>
      <p:sp>
        <p:nvSpPr>
          <p:cNvPr id="24" name="kart"/>
          <p:cNvSpPr/>
          <p:nvPr/>
        </p:nvSpPr>
        <p:spPr>
          <a:xfrm>
            <a:off x="5394960" y="5029200"/>
            <a:ext cx="621792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9525">
            <a:solidFill>
              <a:srgbClr val="C9D8D3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577840" y="5138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K-14 / K-15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51023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Sektör dernekleri ve OSB iş birliği; fon haritası kaynakları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921240" y="51023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Ürün sahibi, içerik sorumlusu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5806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Uygulama bu kararları beklemeden çalışır; karar girilince ilgili içerik “onaylı” olur.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514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Sizden istediklerimiz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D8D3"/>
                </a:solidFill>
              </a:rPr>
              <a:t>Pilot için üç sektör profilinin alan uzmanı onayı (K-02) ve gerçek faktör kataloğu kaynağı (K-05)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D8D3"/>
                </a:solidFill>
              </a:rPr>
              <a:t>Altın senaryoların uzman imzası: referans sonuç, yöntem kaynağı, tolerans</a:t>
            </a:r>
            <a:endParaRPr lang="en-US" sz="18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C9D8D3"/>
                </a:solidFill>
              </a:rPr>
              <a:t>Regülasyon paketleri için resmî metin sahipleri (K-06, K-07, K-08)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C9D8D3"/>
                </a:solidFill>
              </a:rPr>
              <a:t>Bir pilot kurum: yeni başlayan bir çalışanın yardımsız ilk taslağı — pilot kapısının ilk provası</a:t>
            </a:r>
            <a:endParaRPr lang="en-US" sz="1800" dirty="0"/>
          </a:p>
        </p:txBody>
      </p:sp>
      <p:sp>
        <p:nvSpPr>
          <p:cNvPr id="4" name="kart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F2E29"/>
          </a:solidFill>
          <a:ln w="9525">
            <a:solidFill>
              <a:srgbClr val="2C3F38"/>
            </a:solidFill>
            <a:prstDash val="solid"/>
          </a:ln>
          <a:effectLst>
            <a:outerShdw sx="100000" sy="100000" kx="0" ky="0" algn="bl" rotWithShape="0" blurRad="76200" dist="12700" dir="5400000">
              <a:srgbClr val="16201C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AF9F"/>
                </a:solidFill>
              </a:rPr>
              <a:t>Canlı önizleme: ecloudtechnology.github.io/koza   ·   Depo: github.com/ecloudtechnology/koza   ·   Ekip çalışma dosyası: tüm belgeler tek dosyada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8D3"/>
                </a:solidFill>
              </a:rPr>
              <a:t>Muhammet Polat · Enes Koç · Çağla Kumru · Elif Sarıkaş · Havva Dönmez · Mısra Toprak · Okan Yılmaz · Zeynep Esmer  —  Mentor: Onur Dedeoğlu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za">
  <a:themeElements>
    <a:clrScheme name="Koza">
      <a:dk1>
        <a:srgbClr val="16201C"/>
      </a:dk1>
      <a:lt1>
        <a:srgbClr val="FFFFFF"/>
      </a:lt1>
      <a:dk2>
        <a:srgbClr val="0D5F55"/>
      </a:dk2>
      <a:lt2>
        <a:srgbClr val="F2F4F1"/>
      </a:lt2>
      <a:accent1>
        <a:srgbClr val="0D5F55"/>
      </a:accent1>
      <a:accent2>
        <a:srgbClr val="9A5B2B"/>
      </a:accent2>
      <a:accent3>
        <a:srgbClr val="5FAF9F"/>
      </a:accent3>
      <a:accent4>
        <a:srgbClr val="46514C"/>
      </a:accent4>
      <a:accent5>
        <a:srgbClr val="C9D8D3"/>
      </a:accent5>
      <a:accent6>
        <a:srgbClr val="E0EFEA"/>
      </a:accent6>
      <a:hlink>
        <a:srgbClr val="0D5F55"/>
      </a:hlink>
      <a:folHlink>
        <a:srgbClr val="9A5B2B"/>
      </a:folHlink>
    </a:clrScheme>
    <a:fontScheme name="Koz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KOZA — Sürdürülebilirlik veri ve hesap platformu</dc:title>
  <dc:subject>PptxGenJS Presentation</dc:subject>
  <dc:creator>MEXT · İş Dünyasında Sorumlu Üretim grubu</dc:creator>
  <cp:lastModifiedBy>MEXT · İş Dünyasında Sorumlu Üretim grubu</cp:lastModifiedBy>
  <cp:revision>1</cp:revision>
  <dcterms:created xsi:type="dcterms:W3CDTF">2026-10-14T12:56:19Z</dcterms:created>
  <dcterms:modified xsi:type="dcterms:W3CDTF">2026-10-14T12:56:19Z</dcterms:modified>
</cp:coreProperties>
</file>